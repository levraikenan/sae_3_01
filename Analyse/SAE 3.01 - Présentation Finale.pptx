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1354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17185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3267222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5140939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44352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824714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34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522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493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83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0686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9841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35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23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7784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473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782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4975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402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7553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4723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2C2BAC-A600-3C1E-8DC8-EB9885F558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57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735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9543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57FAF7-11BE-B385-F1F6-94597E25294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107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988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5054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232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029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93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06AFA5-30F8-F32C-F815-FFB7D7E746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750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3191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81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488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0372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9321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959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978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03334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924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4249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484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206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610280" name="Text 0"/>
          <p:cNvSpPr/>
          <p:nvPr/>
        </p:nvSpPr>
        <p:spPr bwMode="auto">
          <a:xfrm>
            <a:off x="1283759" y="1271587"/>
            <a:ext cx="65764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  <a:defRPr/>
            </a:pPr>
            <a:r>
              <a:rPr lang="en-US" sz="4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Gestionnaire de Tâches</a:t>
            </a:r>
            <a:endParaRPr lang="en-US" sz="4500"/>
          </a:p>
        </p:txBody>
      </p:sp>
      <p:sp>
        <p:nvSpPr>
          <p:cNvPr id="1159089490" name="Text 1"/>
          <p:cNvSpPr/>
          <p:nvPr/>
        </p:nvSpPr>
        <p:spPr bwMode="auto">
          <a:xfrm>
            <a:off x="2789813" y="2109788"/>
            <a:ext cx="3564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  <a:defRPr/>
            </a:pPr>
            <a:r>
              <a:rPr lang="en-US" sz="1800">
                <a:solidFill>
                  <a:srgbClr val="CBD5E1"/>
                </a:solidFill>
                <a:latin typeface="Arial"/>
                <a:ea typeface="Arial"/>
                <a:cs typeface="Arial"/>
              </a:rPr>
              <a:t>SAE 3.01 - Analyse et Architecture</a:t>
            </a:r>
            <a:endParaRPr lang="en-US" sz="1800"/>
          </a:p>
        </p:txBody>
      </p:sp>
      <p:sp>
        <p:nvSpPr>
          <p:cNvPr id="1604337194" name="Text 2"/>
          <p:cNvSpPr/>
          <p:nvPr/>
        </p:nvSpPr>
        <p:spPr bwMode="auto">
          <a:xfrm>
            <a:off x="2704043" y="2909888"/>
            <a:ext cx="3735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  <a:defRPr/>
            </a:pPr>
            <a:r>
              <a:rPr lang="en-US" sz="1300">
                <a:solidFill>
                  <a:srgbClr val="CBD5E1"/>
                </a:solidFill>
                <a:latin typeface="Arial"/>
                <a:ea typeface="Arial"/>
                <a:cs typeface="Arial"/>
              </a:rPr>
              <a:t>Application JavaFX avec dépendances de tâches</a:t>
            </a:r>
            <a:endParaRPr lang="en-US" sz="1300"/>
          </a:p>
        </p:txBody>
      </p:sp>
      <p:sp>
        <p:nvSpPr>
          <p:cNvPr id="1896011423" name="Text 3"/>
          <p:cNvSpPr/>
          <p:nvPr/>
        </p:nvSpPr>
        <p:spPr bwMode="auto">
          <a:xfrm flipH="0" flipV="0">
            <a:off x="3056333" y="3316740"/>
            <a:ext cx="3031182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  <a:defRPr/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 4 semaines • 63 heures • 6 itérations</a:t>
            </a:r>
            <a:endParaRPr lang="en-US" sz="1050">
              <a:solidFill>
                <a:srgbClr val="94A3B8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lnSpc>
                <a:spcPts val="944"/>
              </a:lnSpc>
              <a:buNone/>
              <a:defRPr/>
            </a:pPr>
            <a:endParaRPr lang="en-US" sz="1050"/>
          </a:p>
          <a:p>
            <a:pPr marL="0" indent="0" algn="ctr">
              <a:lnSpc>
                <a:spcPts val="945"/>
              </a:lnSpc>
              <a:buNone/>
              <a:defRPr/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 Universit</a:t>
            </a:r>
            <a:r>
              <a:rPr lang="fr-FR"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é de</a:t>
            </a:r>
            <a:r>
              <a:rPr lang="en-US"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 Lorraine BUT2 • Décembre 2025</a:t>
            </a:r>
            <a:endParaRPr lang="en-US" sz="1050"/>
          </a:p>
        </p:txBody>
      </p:sp>
      <p:sp>
        <p:nvSpPr>
          <p:cNvPr id="867809938" name="Text 3"/>
          <p:cNvSpPr/>
          <p:nvPr/>
        </p:nvSpPr>
        <p:spPr bwMode="auto">
          <a:xfrm flipH="0" flipV="0">
            <a:off x="25151" y="4770857"/>
            <a:ext cx="3031182" cy="162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4"/>
              </a:lnSpc>
              <a:buNone/>
              <a:defRPr/>
            </a:pPr>
            <a:r>
              <a:rPr lang="fr-FR"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Bekri Alexandre, Cherchari Samy, Keiser Kenan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750799" name="Text 0"/>
          <p:cNvSpPr/>
          <p:nvPr/>
        </p:nvSpPr>
        <p:spPr bwMode="auto"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Contexte &amp; Objectifs</a:t>
            </a:r>
            <a:endParaRPr lang="en-US" sz="2700"/>
          </a:p>
        </p:txBody>
      </p:sp>
      <p:sp>
        <p:nvSpPr>
          <p:cNvPr id="1786051378" name="Text 1"/>
          <p:cNvSpPr/>
          <p:nvPr/>
        </p:nvSpPr>
        <p:spPr bwMode="auto">
          <a:xfrm>
            <a:off x="609600" y="1478161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Objectif principal</a:t>
            </a:r>
            <a:endParaRPr lang="en-US" sz="2100"/>
          </a:p>
        </p:txBody>
      </p:sp>
      <p:sp>
        <p:nvSpPr>
          <p:cNvPr id="541204047" name="Text 2"/>
          <p:cNvSpPr/>
          <p:nvPr/>
        </p:nvSpPr>
        <p:spPr bwMode="auto">
          <a:xfrm>
            <a:off x="609600" y="1912441"/>
            <a:ext cx="792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Développer un </a:t>
            </a:r>
            <a:r>
              <a:rPr lang="fr-FR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« 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organiseur de tâches personnel</a:t>
            </a:r>
            <a:r>
              <a:rPr lang="fr-FR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 »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avec gestion explicite des dépendances, permettant la visualisation multi-vues (Trello, Liste, Gantt).</a:t>
            </a:r>
            <a:endParaRPr lang="en-US" sz="1200"/>
          </a:p>
        </p:txBody>
      </p:sp>
      <p:sp>
        <p:nvSpPr>
          <p:cNvPr id="1752959384" name="Text 3"/>
          <p:cNvSpPr/>
          <p:nvPr/>
        </p:nvSpPr>
        <p:spPr bwMode="auto">
          <a:xfrm>
            <a:off x="609600" y="2483941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Fonctionnalités clés</a:t>
            </a:r>
            <a:endParaRPr lang="en-US" sz="2100"/>
          </a:p>
        </p:txBody>
      </p:sp>
      <p:sp>
        <p:nvSpPr>
          <p:cNvPr id="1688127832" name="Text 4"/>
          <p:cNvSpPr/>
          <p:nvPr/>
        </p:nvSpPr>
        <p:spPr bwMode="auto">
          <a:xfrm>
            <a:off x="914400" y="2918221"/>
            <a:ext cx="7620000" cy="221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  <a:defRPr/>
            </a:pPr>
            <a:r>
              <a:rPr lang="en-US" sz="12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Création &amp; Édition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Titre, description, dates, priorité, statut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2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Gestion des dépendances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Une tâche bloque une autre jusqu'à sa finalisation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2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Vue Trello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Drag &amp; drop avec colonnes (À faire / En cours / Terminé / Archivé)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2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Vue Liste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Hiérarchique avec sous-tâches (expand/collapse)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2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Diagramme Gantt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Timeline avec export PDF/PNG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2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Archive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Historique des tâches complétées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310767" name="Text 7"/>
          <p:cNvSpPr/>
          <p:nvPr/>
        </p:nvSpPr>
        <p:spPr bwMode="auto"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Vue d'ensemble des Use Cases</a:t>
            </a:r>
            <a:endParaRPr lang="en-US" sz="2700"/>
          </a:p>
        </p:txBody>
      </p:sp>
      <p:pic>
        <p:nvPicPr>
          <p:cNvPr id="11804868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7459" y="1554143"/>
            <a:ext cx="8909079" cy="2571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549692" name="Text 1"/>
          <p:cNvSpPr/>
          <p:nvPr/>
        </p:nvSpPr>
        <p:spPr bwMode="auto"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fr-FR" sz="27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Diagramme de Gantt</a:t>
            </a:r>
            <a:endParaRPr lang="en-US" sz="2700"/>
          </a:p>
        </p:txBody>
      </p:sp>
      <p:pic>
        <p:nvPicPr>
          <p:cNvPr id="3440491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50330" y="1224472"/>
            <a:ext cx="3234842" cy="3777230"/>
          </a:xfrm>
          <a:prstGeom prst="rect">
            <a:avLst/>
          </a:prstGeom>
        </p:spPr>
      </p:pic>
      <p:sp>
        <p:nvSpPr>
          <p:cNvPr id="45884241" name=""/>
          <p:cNvSpPr txBox="1"/>
          <p:nvPr/>
        </p:nvSpPr>
        <p:spPr bwMode="auto">
          <a:xfrm rot="0" flipH="0" flipV="0">
            <a:off x="674858" y="1716297"/>
            <a:ext cx="2454590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2600">
                <a:solidFill>
                  <a:schemeClr val="bg1"/>
                </a:solidFill>
              </a:rPr>
              <a:t>Gantt Etat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39131" name="Text 1"/>
          <p:cNvSpPr/>
          <p:nvPr/>
        </p:nvSpPr>
        <p:spPr bwMode="auto">
          <a:xfrm>
            <a:off x="609599" y="609599"/>
            <a:ext cx="8083296" cy="41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39"/>
              </a:lnSpc>
              <a:buNone/>
              <a:defRPr/>
            </a:pPr>
            <a:r>
              <a:rPr lang="fr-FR" sz="27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Diagramme de Gantt</a:t>
            </a:r>
            <a:endParaRPr lang="en-US" sz="2700"/>
          </a:p>
        </p:txBody>
      </p:sp>
      <p:sp>
        <p:nvSpPr>
          <p:cNvPr id="245357603" name=""/>
          <p:cNvSpPr txBox="1"/>
          <p:nvPr/>
        </p:nvSpPr>
        <p:spPr bwMode="auto">
          <a:xfrm rot="0" flipH="0" flipV="0">
            <a:off x="674857" y="1716296"/>
            <a:ext cx="245674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2600">
                <a:solidFill>
                  <a:schemeClr val="bg1"/>
                </a:solidFill>
              </a:rPr>
              <a:t>Gantt Act</a:t>
            </a:r>
            <a:endParaRPr/>
          </a:p>
        </p:txBody>
      </p:sp>
      <p:pic>
        <p:nvPicPr>
          <p:cNvPr id="20651569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83962" y="1093841"/>
            <a:ext cx="3452420" cy="38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888469" name="Text 1"/>
          <p:cNvSpPr/>
          <p:nvPr/>
        </p:nvSpPr>
        <p:spPr bwMode="auto">
          <a:xfrm>
            <a:off x="609599" y="609599"/>
            <a:ext cx="8083296" cy="41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39"/>
              </a:lnSpc>
              <a:buNone/>
              <a:defRPr/>
            </a:pPr>
            <a:r>
              <a:rPr lang="fr-FR" sz="27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Diagramme de Gantt</a:t>
            </a:r>
            <a:endParaRPr lang="en-US" sz="2700"/>
          </a:p>
        </p:txBody>
      </p:sp>
      <p:sp>
        <p:nvSpPr>
          <p:cNvPr id="952520813" name=""/>
          <p:cNvSpPr txBox="1"/>
          <p:nvPr/>
        </p:nvSpPr>
        <p:spPr bwMode="auto">
          <a:xfrm rot="0" flipH="0" flipV="0">
            <a:off x="674857" y="1716296"/>
            <a:ext cx="245638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2600">
                <a:solidFill>
                  <a:schemeClr val="bg1"/>
                </a:solidFill>
              </a:rPr>
              <a:t>Gantt Séquence</a:t>
            </a:r>
            <a:endParaRPr/>
          </a:p>
        </p:txBody>
      </p:sp>
      <p:pic>
        <p:nvPicPr>
          <p:cNvPr id="11858920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82806" y="1419772"/>
            <a:ext cx="4036601" cy="3106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803542" name="Text 0"/>
          <p:cNvSpPr/>
          <p:nvPr/>
        </p:nvSpPr>
        <p:spPr bwMode="auto">
          <a:xfrm>
            <a:off x="609600" y="1363861"/>
            <a:ext cx="3886200" cy="1949648"/>
          </a:xfrm>
          <a:prstGeom prst="roundRect">
            <a:avLst>
              <a:gd name="adj" fmla="val 1876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172599187" name="Text 1"/>
          <p:cNvSpPr/>
          <p:nvPr/>
        </p:nvSpPr>
        <p:spPr bwMode="auto">
          <a:xfrm>
            <a:off x="4648200" y="1363861"/>
            <a:ext cx="3886200" cy="1949648"/>
          </a:xfrm>
          <a:prstGeom prst="roundRect">
            <a:avLst>
              <a:gd name="adj" fmla="val 1876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89112757" name="Text 2"/>
          <p:cNvSpPr/>
          <p:nvPr/>
        </p:nvSpPr>
        <p:spPr bwMode="auto"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Architecture MVC &amp; Patrons de Conception</a:t>
            </a:r>
            <a:endParaRPr lang="en-US" sz="2700"/>
          </a:p>
        </p:txBody>
      </p:sp>
      <p:sp>
        <p:nvSpPr>
          <p:cNvPr id="899238918" name="Text 3"/>
          <p:cNvSpPr/>
          <p:nvPr/>
        </p:nvSpPr>
        <p:spPr bwMode="auto">
          <a:xfrm>
            <a:off x="762000" y="1516261"/>
            <a:ext cx="36530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🏗️ Architecture MVC</a:t>
            </a:r>
            <a:endParaRPr lang="en-US" sz="1200"/>
          </a:p>
        </p:txBody>
      </p:sp>
      <p:sp>
        <p:nvSpPr>
          <p:cNvPr id="750927613" name="Text 4"/>
          <p:cNvSpPr/>
          <p:nvPr/>
        </p:nvSpPr>
        <p:spPr bwMode="auto">
          <a:xfrm>
            <a:off x="990600" y="1830586"/>
            <a:ext cx="3352800" cy="121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  <a:defRPr/>
            </a:pPr>
            <a:r>
              <a:rPr lang="en-US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Model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Task, Dependency, TaskComposite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V</a:t>
            </a:r>
            <a:r>
              <a:rPr lang="fr-FR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ue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Board, ListView, DetailView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Service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GanttService, DependencyService, ArchiveService</a:t>
            </a:r>
            <a:endParaRPr lang="en-US" sz="1200"/>
          </a:p>
        </p:txBody>
      </p:sp>
      <p:sp>
        <p:nvSpPr>
          <p:cNvPr id="1006917556" name="Text 5"/>
          <p:cNvSpPr/>
          <p:nvPr/>
        </p:nvSpPr>
        <p:spPr bwMode="auto">
          <a:xfrm>
            <a:off x="4800600" y="1516261"/>
            <a:ext cx="36530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🎯 Patrons utilisés</a:t>
            </a:r>
            <a:endParaRPr lang="en-US" sz="1200"/>
          </a:p>
        </p:txBody>
      </p:sp>
      <p:sp>
        <p:nvSpPr>
          <p:cNvPr id="1834000306" name="Text 6"/>
          <p:cNvSpPr/>
          <p:nvPr/>
        </p:nvSpPr>
        <p:spPr bwMode="auto">
          <a:xfrm>
            <a:off x="5029200" y="1830586"/>
            <a:ext cx="3352800" cy="96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  <a:defRPr/>
            </a:pPr>
            <a:r>
              <a:rPr lang="en-US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Composite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Hiérarchie parent/enfant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r>
              <a:rPr lang="en-US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Obs</a:t>
            </a:r>
            <a:r>
              <a:rPr lang="fr-FR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r</a:t>
            </a:r>
            <a:r>
              <a:rPr lang="fr-FR" sz="11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vateur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 : Réactivité UI</a:t>
            </a:r>
            <a:endParaRPr lang="en-US" sz="1200"/>
          </a:p>
          <a:p>
            <a:pPr marL="0" indent="0">
              <a:lnSpc>
                <a:spcPts val="2160"/>
              </a:lnSpc>
              <a:buNone/>
              <a:defRPr/>
            </a:pP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924822" name="Text 1"/>
          <p:cNvSpPr/>
          <p:nvPr/>
        </p:nvSpPr>
        <p:spPr bwMode="auto">
          <a:xfrm>
            <a:off x="482031" y="198238"/>
            <a:ext cx="8083296" cy="41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39"/>
              </a:lnSpc>
              <a:buNone/>
              <a:defRPr/>
            </a:pPr>
            <a:r>
              <a:rPr lang="fr-FR" sz="27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Diagramme de classe</a:t>
            </a:r>
            <a:endParaRPr lang="en-US" sz="2700"/>
          </a:p>
        </p:txBody>
      </p:sp>
      <p:pic>
        <p:nvPicPr>
          <p:cNvPr id="19976996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36714" y="773906"/>
            <a:ext cx="4773930" cy="4200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094324" name="Text 0"/>
          <p:cNvSpPr/>
          <p:nvPr/>
        </p:nvSpPr>
        <p:spPr bwMode="auto">
          <a:xfrm>
            <a:off x="609600" y="3477964"/>
            <a:ext cx="7924800" cy="422821"/>
          </a:xfrm>
          <a:prstGeom prst="roundRect">
            <a:avLst>
              <a:gd name="adj" fmla="val 8650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093430865" name="Text 1"/>
          <p:cNvSpPr/>
          <p:nvPr/>
        </p:nvSpPr>
        <p:spPr bwMode="auto"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Planning des 6 Itérations (4 semaines)</a:t>
            </a:r>
            <a:endParaRPr lang="en-US" sz="2700"/>
          </a:p>
        </p:txBody>
      </p:sp>
      <p:sp>
        <p:nvSpPr>
          <p:cNvPr id="1607906890" name="Text 2"/>
          <p:cNvSpPr/>
          <p:nvPr/>
        </p:nvSpPr>
        <p:spPr bwMode="auto">
          <a:xfrm>
            <a:off x="609600" y="1325761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📅 Itérations 1-2 (Sem 49-50) : Fondations</a:t>
            </a:r>
            <a:endParaRPr lang="en-US" sz="2100"/>
          </a:p>
        </p:txBody>
      </p:sp>
      <p:sp>
        <p:nvSpPr>
          <p:cNvPr id="361205083" name="Text 3"/>
          <p:cNvSpPr/>
          <p:nvPr/>
        </p:nvSpPr>
        <p:spPr bwMode="auto">
          <a:xfrm>
            <a:off x="762000" y="1721941"/>
            <a:ext cx="792784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Arial"/>
                <a:ea typeface="Arial"/>
                <a:cs typeface="Arial"/>
              </a:rPr>
              <a:t>Setup JavaFX • Modèle Task • Création sans dépendances → Vue Liste basique</a:t>
            </a:r>
            <a:endParaRPr lang="en-US" sz="1000"/>
          </a:p>
        </p:txBody>
      </p:sp>
      <p:sp>
        <p:nvSpPr>
          <p:cNvPr id="1882286852" name="Text 4"/>
          <p:cNvSpPr/>
          <p:nvPr/>
        </p:nvSpPr>
        <p:spPr bwMode="auto">
          <a:xfrm>
            <a:off x="609600" y="2030461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🎨 Itérations 3-4 (Sem 50-51) : Vues</a:t>
            </a:r>
            <a:endParaRPr lang="en-US" sz="2100"/>
          </a:p>
        </p:txBody>
      </p:sp>
      <p:sp>
        <p:nvSpPr>
          <p:cNvPr id="1699372059" name="Text 5"/>
          <p:cNvSpPr/>
          <p:nvPr/>
        </p:nvSpPr>
        <p:spPr bwMode="auto">
          <a:xfrm>
            <a:off x="762000" y="2426643"/>
            <a:ext cx="792784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Arial"/>
                <a:ea typeface="Arial"/>
                <a:cs typeface="Arial"/>
              </a:rPr>
              <a:t>Vue Trello (colonnes + drag &amp; drop) → Sous-tâches + hiérarchie + vue détail</a:t>
            </a:r>
            <a:endParaRPr lang="en-US" sz="1000"/>
          </a:p>
        </p:txBody>
      </p:sp>
      <p:sp>
        <p:nvSpPr>
          <p:cNvPr id="1760797995" name="Text 6"/>
          <p:cNvSpPr/>
          <p:nvPr/>
        </p:nvSpPr>
        <p:spPr bwMode="auto">
          <a:xfrm>
            <a:off x="609600" y="2735163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✅ Itérations 5-6 (Jan) : Finition</a:t>
            </a:r>
            <a:endParaRPr lang="en-US" sz="2100"/>
          </a:p>
        </p:txBody>
      </p:sp>
      <p:sp>
        <p:nvSpPr>
          <p:cNvPr id="717080570" name="Text 7"/>
          <p:cNvSpPr/>
          <p:nvPr/>
        </p:nvSpPr>
        <p:spPr bwMode="auto">
          <a:xfrm>
            <a:off x="762000" y="3131344"/>
            <a:ext cx="792784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  <a:defRPr/>
            </a:pPr>
            <a:r>
              <a:rPr lang="en-US" sz="1000">
                <a:solidFill>
                  <a:srgbClr val="CBD5E1"/>
                </a:solidFill>
                <a:latin typeface="Arial"/>
                <a:ea typeface="Arial"/>
                <a:cs typeface="Arial"/>
              </a:rPr>
              <a:t>Gantt (sélection + chronologie + export) → Archive → Tests intensifs → Soutenance</a:t>
            </a:r>
            <a:endParaRPr lang="en-US" sz="1000"/>
          </a:p>
        </p:txBody>
      </p:sp>
      <p:sp>
        <p:nvSpPr>
          <p:cNvPr id="409616588" name="Text 8"/>
          <p:cNvSpPr/>
          <p:nvPr/>
        </p:nvSpPr>
        <p:spPr bwMode="auto">
          <a:xfrm>
            <a:off x="714655" y="3548000"/>
            <a:ext cx="7924800" cy="422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  <a:defRPr/>
            </a:pPr>
            <a:r>
              <a:rPr lang="en-US" sz="1000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⏱️ Cycle itération :</a:t>
            </a:r>
            <a:r>
              <a:rPr lang="fr-FR" sz="100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00">
                <a:solidFill>
                  <a:srgbClr val="CBD5E1"/>
                </a:solidFill>
                <a:latin typeface="Arial"/>
                <a:ea typeface="Arial"/>
                <a:cs typeface="Arial"/>
              </a:rPr>
              <a:t>30min planning • 1h30 conception • 4h30 code/tests • 1h30 intégration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37297" name="Text 0"/>
          <p:cNvSpPr/>
          <p:nvPr/>
        </p:nvSpPr>
        <p:spPr bwMode="auto">
          <a:xfrm>
            <a:off x="609600" y="1173360"/>
            <a:ext cx="7781925" cy="647700"/>
          </a:xfrm>
          <a:prstGeom prst="roundRect">
            <a:avLst>
              <a:gd name="adj" fmla="val 5647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372643531" name="Text 1"/>
          <p:cNvSpPr/>
          <p:nvPr/>
        </p:nvSpPr>
        <p:spPr bwMode="auto">
          <a:xfrm>
            <a:off x="609600" y="1935361"/>
            <a:ext cx="7781925" cy="647700"/>
          </a:xfrm>
          <a:prstGeom prst="roundRect">
            <a:avLst>
              <a:gd name="adj" fmla="val 5647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659065857" name="Text 2"/>
          <p:cNvSpPr/>
          <p:nvPr/>
        </p:nvSpPr>
        <p:spPr bwMode="auto">
          <a:xfrm>
            <a:off x="609600" y="2697361"/>
            <a:ext cx="7781925" cy="647700"/>
          </a:xfrm>
          <a:prstGeom prst="roundRect">
            <a:avLst>
              <a:gd name="adj" fmla="val 5647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162337298" name="Text 3"/>
          <p:cNvSpPr/>
          <p:nvPr/>
        </p:nvSpPr>
        <p:spPr bwMode="auto">
          <a:xfrm>
            <a:off x="609600" y="3459361"/>
            <a:ext cx="7781925" cy="647700"/>
          </a:xfrm>
          <a:prstGeom prst="roundRect">
            <a:avLst>
              <a:gd name="adj" fmla="val 5647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486706156" name="Text 4"/>
          <p:cNvSpPr/>
          <p:nvPr/>
        </p:nvSpPr>
        <p:spPr bwMode="auto">
          <a:xfrm>
            <a:off x="609600" y="4221361"/>
            <a:ext cx="7781925" cy="647700"/>
          </a:xfrm>
          <a:prstGeom prst="roundRect">
            <a:avLst>
              <a:gd name="adj" fmla="val 5647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107841851" name="Text 5"/>
          <p:cNvSpPr/>
          <p:nvPr/>
        </p:nvSpPr>
        <p:spPr bwMode="auto"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Risques Identifiés</a:t>
            </a:r>
            <a:endParaRPr lang="en-US" sz="2700"/>
          </a:p>
        </p:txBody>
      </p:sp>
      <p:sp>
        <p:nvSpPr>
          <p:cNvPr id="857582205" name="Text 6"/>
          <p:cNvSpPr/>
          <p:nvPr/>
        </p:nvSpPr>
        <p:spPr bwMode="auto">
          <a:xfrm>
            <a:off x="800100" y="1516261"/>
            <a:ext cx="75878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  <a:defRPr/>
            </a:pPr>
            <a:r>
              <a:rPr lang="en-US"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Maquette simple d'abord, UI limitée en It1-2</a:t>
            </a:r>
            <a:endParaRPr lang="en-US" sz="1100"/>
          </a:p>
        </p:txBody>
      </p:sp>
      <p:sp>
        <p:nvSpPr>
          <p:cNvPr id="523666735" name="Text 7"/>
          <p:cNvSpPr/>
          <p:nvPr/>
        </p:nvSpPr>
        <p:spPr bwMode="auto">
          <a:xfrm>
            <a:off x="800100" y="2278261"/>
            <a:ext cx="75878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  <a:defRPr/>
            </a:pPr>
            <a:r>
              <a:rPr lang="en-US"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Respecter planning itératif strict, pas d'anticipation</a:t>
            </a:r>
            <a:endParaRPr lang="en-US" sz="1100"/>
          </a:p>
        </p:txBody>
      </p:sp>
      <p:sp>
        <p:nvSpPr>
          <p:cNvPr id="307777603" name="Text 8"/>
          <p:cNvSpPr/>
          <p:nvPr/>
        </p:nvSpPr>
        <p:spPr bwMode="auto">
          <a:xfrm>
            <a:off x="800100" y="3040261"/>
            <a:ext cx="75878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  <a:defRPr/>
            </a:pPr>
            <a:r>
              <a:rPr lang="en-US"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Update systématique début/fin itération</a:t>
            </a:r>
            <a:endParaRPr lang="en-US" sz="1100"/>
          </a:p>
        </p:txBody>
      </p:sp>
      <p:sp>
        <p:nvSpPr>
          <p:cNvPr id="1855931788" name="Text 9"/>
          <p:cNvSpPr/>
          <p:nvPr/>
        </p:nvSpPr>
        <p:spPr bwMode="auto">
          <a:xfrm>
            <a:off x="800100" y="3802261"/>
            <a:ext cx="75878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  <a:defRPr/>
            </a:pPr>
            <a:r>
              <a:rPr lang="en-US"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Tests unitaires massifs + scénarios détaillés</a:t>
            </a:r>
            <a:endParaRPr lang="en-US" sz="1100"/>
          </a:p>
        </p:txBody>
      </p:sp>
      <p:sp>
        <p:nvSpPr>
          <p:cNvPr id="549055527" name="Text 10"/>
          <p:cNvSpPr/>
          <p:nvPr/>
        </p:nvSpPr>
        <p:spPr bwMode="auto">
          <a:xfrm>
            <a:off x="800100" y="4564261"/>
            <a:ext cx="75878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  <a:defRPr/>
            </a:pPr>
            <a:r>
              <a:rPr lang="en-US" sz="1100">
                <a:solidFill>
                  <a:srgbClr val="CBD5E1"/>
                </a:solidFill>
                <a:latin typeface="Arial"/>
                <a:ea typeface="Arial"/>
                <a:cs typeface="Arial"/>
              </a:rPr>
              <a:t>Limiter périmètre, réduction scope si besoin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794349" name="Text 0"/>
          <p:cNvSpPr/>
          <p:nvPr/>
        </p:nvSpPr>
        <p:spPr bwMode="auto">
          <a:xfrm>
            <a:off x="609600" y="1325761"/>
            <a:ext cx="3886200" cy="1666875"/>
          </a:xfrm>
          <a:prstGeom prst="roundRect">
            <a:avLst>
              <a:gd name="adj" fmla="val 2194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521985005" name="Text 1"/>
          <p:cNvSpPr/>
          <p:nvPr/>
        </p:nvSpPr>
        <p:spPr bwMode="auto">
          <a:xfrm>
            <a:off x="762000" y="1697236"/>
            <a:ext cx="3581400" cy="1143000"/>
          </a:xfrm>
          <a:prstGeom prst="roundRect">
            <a:avLst>
              <a:gd name="adj" fmla="val 32000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935999134" name="Text 2"/>
          <p:cNvSpPr/>
          <p:nvPr/>
        </p:nvSpPr>
        <p:spPr bwMode="auto">
          <a:xfrm>
            <a:off x="4648200" y="1325761"/>
            <a:ext cx="3886200" cy="1666875"/>
          </a:xfrm>
          <a:prstGeom prst="roundRect">
            <a:avLst>
              <a:gd name="adj" fmla="val 2194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087924376" name="Text 3"/>
          <p:cNvSpPr/>
          <p:nvPr/>
        </p:nvSpPr>
        <p:spPr bwMode="auto">
          <a:xfrm>
            <a:off x="4800600" y="1697236"/>
            <a:ext cx="3581400" cy="1143000"/>
          </a:xfrm>
          <a:prstGeom prst="roundRect">
            <a:avLst>
              <a:gd name="adj" fmla="val 32000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65461501" name="Text 4"/>
          <p:cNvSpPr/>
          <p:nvPr/>
        </p:nvSpPr>
        <p:spPr bwMode="auto">
          <a:xfrm>
            <a:off x="609600" y="3145036"/>
            <a:ext cx="3886200" cy="1666875"/>
          </a:xfrm>
          <a:prstGeom prst="roundRect">
            <a:avLst>
              <a:gd name="adj" fmla="val 2194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108153124" name="Text 5"/>
          <p:cNvSpPr/>
          <p:nvPr/>
        </p:nvSpPr>
        <p:spPr bwMode="auto">
          <a:xfrm>
            <a:off x="762000" y="3516511"/>
            <a:ext cx="3581400" cy="1143000"/>
          </a:xfrm>
          <a:prstGeom prst="roundRect">
            <a:avLst>
              <a:gd name="adj" fmla="val 32000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589816733" name="Text 6"/>
          <p:cNvSpPr/>
          <p:nvPr/>
        </p:nvSpPr>
        <p:spPr bwMode="auto">
          <a:xfrm>
            <a:off x="4648200" y="3145036"/>
            <a:ext cx="3886200" cy="1666875"/>
          </a:xfrm>
          <a:prstGeom prst="roundRect">
            <a:avLst>
              <a:gd name="adj" fmla="val 2194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55798066" name="Text 7"/>
          <p:cNvSpPr/>
          <p:nvPr/>
        </p:nvSpPr>
        <p:spPr bwMode="auto">
          <a:xfrm>
            <a:off x="4800600" y="3516511"/>
            <a:ext cx="3581400" cy="1143000"/>
          </a:xfrm>
          <a:prstGeom prst="roundRect">
            <a:avLst>
              <a:gd name="adj" fmla="val 32000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38176462" name="Text 8"/>
          <p:cNvSpPr/>
          <p:nvPr/>
        </p:nvSpPr>
        <p:spPr bwMode="auto"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Maquette Balsamique - "Tribollo"</a:t>
            </a:r>
            <a:endParaRPr lang="en-US" sz="2700"/>
          </a:p>
        </p:txBody>
      </p:sp>
      <p:sp>
        <p:nvSpPr>
          <p:cNvPr id="1475543377" name="Text 9"/>
          <p:cNvSpPr/>
          <p:nvPr/>
        </p:nvSpPr>
        <p:spPr bwMode="auto">
          <a:xfrm>
            <a:off x="1600795" y="2068711"/>
            <a:ext cx="19038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[À faire | En cours | Terminé | Archivé]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Drag &amp; Drop actif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Cartes colorées par statut</a:t>
            </a:r>
            <a:endParaRPr lang="en-US" sz="900"/>
          </a:p>
        </p:txBody>
      </p:sp>
      <p:sp>
        <p:nvSpPr>
          <p:cNvPr id="64920041" name="Text 10"/>
          <p:cNvSpPr/>
          <p:nvPr/>
        </p:nvSpPr>
        <p:spPr bwMode="auto">
          <a:xfrm>
            <a:off x="6009829" y="2068711"/>
            <a:ext cx="11629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Tableau avec colonnes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Hiérarchie expandable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Filtre par priorité</a:t>
            </a:r>
            <a:endParaRPr lang="en-US" sz="900"/>
          </a:p>
        </p:txBody>
      </p:sp>
      <p:sp>
        <p:nvSpPr>
          <p:cNvPr id="1530778682" name="Text 11"/>
          <p:cNvSpPr/>
          <p:nvPr/>
        </p:nvSpPr>
        <p:spPr bwMode="auto">
          <a:xfrm>
            <a:off x="1996678" y="3887986"/>
            <a:ext cx="11120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Timeline avec barres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Dépendances visibles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Export PDF/PNG</a:t>
            </a:r>
            <a:endParaRPr lang="en-US" sz="900"/>
          </a:p>
        </p:txBody>
      </p:sp>
      <p:sp>
        <p:nvSpPr>
          <p:cNvPr id="1544155958" name="Text 12"/>
          <p:cNvSpPr/>
          <p:nvPr/>
        </p:nvSpPr>
        <p:spPr bwMode="auto">
          <a:xfrm>
            <a:off x="6041678" y="3887986"/>
            <a:ext cx="10992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Historique complet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Restauration possible</a:t>
            </a:r>
            <a:endParaRPr lang="en-US" sz="900"/>
          </a:p>
          <a:p>
            <a:pPr marL="0" indent="0" algn="ctr">
              <a:lnSpc>
                <a:spcPts val="810"/>
              </a:lnSpc>
              <a:buNone/>
              <a:defRPr/>
            </a:pPr>
            <a:r>
              <a:rPr lang="en-US" sz="900">
                <a:solidFill>
                  <a:srgbClr val="CBD5E1"/>
                </a:solidFill>
                <a:latin typeface="Arial"/>
                <a:ea typeface="Arial"/>
                <a:cs typeface="Arial"/>
              </a:rPr>
              <a:t> Vue détail riche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206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61239" name="Text 0"/>
          <p:cNvSpPr/>
          <p:nvPr/>
        </p:nvSpPr>
        <p:spPr bwMode="auto">
          <a:xfrm>
            <a:off x="530352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Prêt pour le Développement</a:t>
            </a:r>
            <a:endParaRPr lang="en-US" sz="2700"/>
          </a:p>
        </p:txBody>
      </p:sp>
      <p:sp>
        <p:nvSpPr>
          <p:cNvPr id="1422223519" name="Text 1"/>
          <p:cNvSpPr/>
          <p:nvPr/>
        </p:nvSpPr>
        <p:spPr bwMode="auto">
          <a:xfrm>
            <a:off x="609600" y="1478161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✓ Analyse solide</a:t>
            </a:r>
            <a:endParaRPr lang="en-US" sz="2100"/>
          </a:p>
        </p:txBody>
      </p:sp>
      <p:sp>
        <p:nvSpPr>
          <p:cNvPr id="1421362317" name="Text 2"/>
          <p:cNvSpPr/>
          <p:nvPr/>
        </p:nvSpPr>
        <p:spPr bwMode="auto">
          <a:xfrm>
            <a:off x="838200" y="1950541"/>
            <a:ext cx="35814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Diagrammes UML complets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UC6 (Gantt) détaillé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Risques identifiés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Patrons de conception</a:t>
            </a:r>
            <a:endParaRPr lang="en-US" sz="1200"/>
          </a:p>
        </p:txBody>
      </p:sp>
      <p:sp>
        <p:nvSpPr>
          <p:cNvPr id="1967414587" name="Text 3"/>
          <p:cNvSpPr/>
          <p:nvPr/>
        </p:nvSpPr>
        <p:spPr bwMode="auto">
          <a:xfrm>
            <a:off x="4724399" y="1478161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✓ Architecture claire</a:t>
            </a:r>
            <a:endParaRPr lang="en-US" sz="2100"/>
          </a:p>
        </p:txBody>
      </p:sp>
      <p:sp>
        <p:nvSpPr>
          <p:cNvPr id="277312819" name="Text 4"/>
          <p:cNvSpPr/>
          <p:nvPr/>
        </p:nvSpPr>
        <p:spPr bwMode="auto">
          <a:xfrm>
            <a:off x="4953000" y="1950541"/>
            <a:ext cx="35814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MVC structuré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Classes simplifiées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Dépendances mappées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Planning réaliste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/>
  <cp:revision>4</cp:revision>
  <dcterms:created xsi:type="dcterms:W3CDTF">2025-12-09T11:30:46Z</dcterms:created>
  <dcterms:modified xsi:type="dcterms:W3CDTF">2025-12-09T13:20:28Z</dcterms:modified>
</cp:coreProperties>
</file>